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4"/>
  </p:notesMasterIdLst>
  <p:handoutMasterIdLst>
    <p:handoutMasterId r:id="rId25"/>
  </p:handoutMasterIdLst>
  <p:sldIdLst>
    <p:sldId id="278" r:id="rId5"/>
    <p:sldId id="282" r:id="rId6"/>
    <p:sldId id="284" r:id="rId7"/>
    <p:sldId id="293" r:id="rId8"/>
    <p:sldId id="296" r:id="rId9"/>
    <p:sldId id="298" r:id="rId10"/>
    <p:sldId id="299" r:id="rId11"/>
    <p:sldId id="301" r:id="rId12"/>
    <p:sldId id="302" r:id="rId13"/>
    <p:sldId id="303" r:id="rId14"/>
    <p:sldId id="307" r:id="rId15"/>
    <p:sldId id="310" r:id="rId16"/>
    <p:sldId id="311" r:id="rId17"/>
    <p:sldId id="312" r:id="rId18"/>
    <p:sldId id="313" r:id="rId19"/>
    <p:sldId id="309" r:id="rId20"/>
    <p:sldId id="308" r:id="rId21"/>
    <p:sldId id="314" r:id="rId22"/>
    <p:sldId id="292" r:id="rId23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82" d="100"/>
          <a:sy n="82" d="100"/>
        </p:scale>
        <p:origin x="393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FCF5D6B5-35B7-4285-9A4D-92ED5F34F328}" type="datetime1">
              <a:rPr lang="pt-BR" smtClean="0"/>
              <a:t>27/11/2025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CFA70580-B89C-4157-871D-6B9318EE5F5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4CFF1DF4-D409-4130-8A44-0FEC7A586139}" type="datetime1">
              <a:rPr lang="pt-BR" smtClean="0"/>
              <a:pPr/>
              <a:t>27/11/2025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E7AF00E9-A49D-4007-B3B9-A3783809E50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21C2B-10D3-BA96-59E7-F82410D2B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AA9438F4-6DFD-4655-DCF2-0FB5C8805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6077E6D5-3116-981F-E419-FC3F47D41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335C7793-8CBF-8B4D-9A22-2954BD131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17086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9E438-5AB5-C05A-D0EA-FC4478AD4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4C2C60C3-EE68-B286-A8D0-C2D1F9767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9C8C35F1-E3B6-68EA-2A8D-F11994A71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55475000-1EF1-A4D7-5EFD-ADA6CAE105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438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6E704-5CC1-2CE8-C330-33B4C7172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C6A9306A-CFB3-1BC8-863B-B5C38746B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8374E4E2-45C4-420A-F25C-B0D068A84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DA8F436D-A8C8-E5BF-0C31-71D628058B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77436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213EB-4DA8-B853-CA4E-BC9473FD5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D1B348A3-593B-932F-30E3-0ABEE3EAA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CBC9F82F-EFE2-668C-175E-7941247D1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9A32A2C4-599A-8C2B-3168-A890D8505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42316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8151E-456C-B292-FE73-8662322A0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DE689CD4-6F0A-4E1C-8A76-424CD271BC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2460A006-3243-9223-FAAF-BF3B4C74B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385B7EC3-081B-C4BA-B783-EA738F8C27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47652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35071-EA0E-CA78-132A-59FA9877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D85EF79E-A4C5-C3F2-3DF7-883464AD0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77AFFDEC-759D-DD2C-FD6E-DC2721E8A1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2838BCF6-8FD4-9884-E3AD-25A779642D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80678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854B9-E9BC-9FB1-5991-777AD107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42614D06-3562-0A31-D60C-8671FF4A5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3ED542AF-B583-DD62-06D9-DE710200A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2242A6D1-DD08-6362-9BD5-885FE406DF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45601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AA8A6-4D59-D342-A96D-B22E34793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8E5837EC-AB7C-5593-2E22-243B5F12C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EDF6656E-DABB-F3DA-4DAA-99DD55F0C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6DA6A0B-1176-5D55-75C6-7CC0A23343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876624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65812-147C-EF3E-D4F6-1F73CD5B4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0A10932E-2562-E4E2-98EA-E759A08A9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85605EB6-C5A3-7603-132F-2CE97483D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8F8EAC6A-C958-43D8-19C8-860B488D1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96513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8DDDA-680B-F782-BFD8-A8374228D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61CCAEC0-7E57-0712-8674-312B8CC435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F9999CD2-04BB-C639-34E5-68FA09C74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8AF2F14-8558-6107-5267-20EA692B9B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56961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AC22A-2A82-3E03-EA9E-C666B8435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6B873BF7-6353-A7AA-D123-388D993842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CABA7F7D-123F-B51F-BC07-A20747C50B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007D4D99-B708-66A2-B7FF-0825991BCD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10674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E241C-8A04-C5A2-D7C1-7AD039FB7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EFEC22BC-490B-8B09-2FE3-35D7B16CF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5AA3AB5A-445F-A0E1-496C-26D29EBE58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F0254D95-77F2-D723-2993-3F36CDD8EC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92334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A3630-9DA8-7939-A2C9-61CC8935C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330F169D-0DA3-9020-175F-AF7618AE84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702CC7CB-DEBA-F983-9ECE-010D068B7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5CF45AAB-7F14-331F-26A5-D5ADCD948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964944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208AF-1648-9E00-7CA7-6FD67EDF3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60E191E6-A82E-7C20-5524-6A7BF74FC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5DDCE059-0240-1E62-62D7-582541134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931A738-96BD-5B78-089D-5EB5224B53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55898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61735-693C-290D-B7B3-4BE50FC46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7CC602A6-C03C-FFC5-39E6-13B069022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1802F67B-FD5B-B50A-C6FC-4B008E7C8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D2E2B904-BB37-E2BC-154E-DAB4767FC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16362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9693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pt-BR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adicionar um título</a:t>
            </a:r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inserir a imagem</a:t>
            </a:r>
          </a:p>
        </p:txBody>
      </p:sp>
    </p:spTree>
    <p:extLst>
      <p:ext uri="{BB962C8B-B14F-4D97-AF65-F5344CB8AC3E}">
        <p14:creationId xmlns:p14="http://schemas.microsoft.com/office/powerpoint/2010/main" val="286820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o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ítulo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rtlCol="0" anchor="b">
            <a:normAutofit/>
          </a:bodyPr>
          <a:lstStyle>
            <a:lvl1pPr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22" name="Espaço Reservado para Conteúdo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</a:defRPr>
            </a:lvl1pPr>
            <a:lvl2pPr>
              <a:defRPr lang="pt-BR" sz="1200">
                <a:solidFill>
                  <a:schemeClr val="tx1"/>
                </a:solidFill>
              </a:defRPr>
            </a:lvl2pPr>
            <a:lvl3pPr>
              <a:defRPr lang="pt-BR" sz="1200">
                <a:solidFill>
                  <a:schemeClr val="tx1"/>
                </a:solidFill>
              </a:defRPr>
            </a:lvl3pPr>
            <a:lvl4pPr>
              <a:defRPr lang="pt-BR" sz="1200">
                <a:solidFill>
                  <a:schemeClr val="tx1"/>
                </a:solidFill>
              </a:defRPr>
            </a:lvl4pPr>
            <a:lvl5pPr>
              <a:defRPr lang="pt-BR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 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orma Livre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7" name="Forma Livre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8" name="Forma Livre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orma livre: Forma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orma Livre: Forma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</p:grp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orma Livre: Forma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orma livre: Forma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orma Livre: Forma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</p:grp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orma livre: Forma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pt-BR" sz="4000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 rtlCol="0">
            <a:normAutofit/>
          </a:bodyPr>
          <a:lstStyle>
            <a:lvl1pPr>
              <a:defRPr lang="pt-BR" sz="1800">
                <a:solidFill>
                  <a:schemeClr val="tx1"/>
                </a:solidFill>
              </a:defRPr>
            </a:lvl1pPr>
            <a:lvl2pPr>
              <a:defRPr lang="pt-BR" sz="1200">
                <a:solidFill>
                  <a:schemeClr val="tx1"/>
                </a:solidFill>
              </a:defRPr>
            </a:lvl2pPr>
            <a:lvl3pPr>
              <a:defRPr lang="pt-BR" sz="1200">
                <a:solidFill>
                  <a:schemeClr val="tx1"/>
                </a:solidFill>
              </a:defRPr>
            </a:lvl3pPr>
            <a:lvl4pPr>
              <a:defRPr lang="pt-BR" sz="1200">
                <a:solidFill>
                  <a:schemeClr val="tx1"/>
                </a:solidFill>
              </a:defRPr>
            </a:lvl4pPr>
            <a:lvl5pPr>
              <a:defRPr lang="pt-BR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0994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6119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Forma Livre: Forma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15" name="Forma livre: Forma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</a:defRPr>
            </a:lvl1pPr>
            <a:lvl2pPr>
              <a:defRPr lang="pt-BR" sz="1800">
                <a:solidFill>
                  <a:schemeClr val="tx1"/>
                </a:solidFill>
              </a:defRPr>
            </a:lvl2pPr>
            <a:lvl3pPr>
              <a:defRPr lang="pt-BR" sz="1800">
                <a:solidFill>
                  <a:schemeClr val="tx1"/>
                </a:solidFill>
              </a:defRPr>
            </a:lvl3pPr>
            <a:lvl4pPr>
              <a:defRPr lang="pt-BR" sz="1800">
                <a:solidFill>
                  <a:schemeClr val="tx1"/>
                </a:solidFill>
              </a:defRPr>
            </a:lvl4pPr>
            <a:lvl5pPr>
              <a:defRPr lang="pt-BR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6" name="Espaço Reservado para Conteúdo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</a:defRPr>
            </a:lvl1pPr>
            <a:lvl2pPr>
              <a:defRPr lang="pt-BR" sz="1800">
                <a:solidFill>
                  <a:schemeClr val="tx1"/>
                </a:solidFill>
              </a:defRPr>
            </a:lvl2pPr>
            <a:lvl3pPr>
              <a:defRPr lang="pt-BR" sz="1800">
                <a:solidFill>
                  <a:schemeClr val="tx1"/>
                </a:solidFill>
              </a:defRPr>
            </a:lvl3pPr>
            <a:lvl4pPr>
              <a:defRPr lang="pt-BR" sz="1800">
                <a:solidFill>
                  <a:schemeClr val="tx1"/>
                </a:solidFill>
              </a:defRPr>
            </a:lvl4pPr>
            <a:lvl5pPr>
              <a:defRPr lang="pt-BR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pt-BR" sz="5400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lang="pt-BR"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lang="pt-BR"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lang="pt-BR"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lang="pt-BR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no ícone para inserir a imagem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orma Livre: Forma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rmAutofit/>
          </a:bodyPr>
          <a:lstStyle>
            <a:lvl1pPr algn="l">
              <a:lnSpc>
                <a:spcPct val="100000"/>
              </a:lnSpc>
              <a:defRPr lang="pt-BR" sz="64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pt-BR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 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pt-BR"/>
            </a:def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pt-BR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pt-BR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pt-BR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703" r:id="rId3"/>
    <p:sldLayoutId id="2147483704" r:id="rId4"/>
    <p:sldLayoutId id="2147483688" r:id="rId5"/>
    <p:sldLayoutId id="2147483686" r:id="rId6"/>
    <p:sldLayoutId id="2147483685" r:id="rId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pt-BR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pt-BR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pt-BR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pt-BR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020" y="662937"/>
            <a:ext cx="4624442" cy="5542025"/>
          </a:xfrm>
          <a:noFill/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>
              <a:lnSpc>
                <a:spcPct val="100000"/>
              </a:lnSpc>
            </a:pPr>
            <a:r>
              <a:rPr lang="pt-BR" dirty="0" err="1"/>
              <a:t>BodyQuest</a:t>
            </a:r>
            <a:endParaRPr lang="pt-BR" dirty="0"/>
          </a:p>
        </p:txBody>
      </p:sp>
      <p:pic>
        <p:nvPicPr>
          <p:cNvPr id="8" name="Espaço Reservado para Imagem 13" descr="Tela de fundo digital de pontos de dados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>
          <a:xfrm>
            <a:off x="0" y="0"/>
            <a:ext cx="6267450" cy="6858000"/>
          </a:xfrm>
        </p:spPr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1684059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Visão geral do </a:t>
            </a:r>
            <a:r>
              <a:rPr lang="pt-BR" dirty="0" err="1"/>
              <a:t>BodyQuest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BCA07C-1908-B1EB-82FA-EC63DAAF4C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sz="2000" dirty="0"/>
              <a:t>Sistema web focado em hábitos saudáveis, transformando rotina em jogo</a:t>
            </a:r>
          </a:p>
          <a:p>
            <a:pPr lvl="1"/>
            <a:r>
              <a:rPr lang="pt-BR" sz="2000" dirty="0"/>
              <a:t>Usuário ganha pontos ao treinar, correr, se alimentar bem e se hidratar</a:t>
            </a:r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Módulos: Landing </a:t>
            </a:r>
            <a:r>
              <a:rPr lang="pt-BR" sz="2000" dirty="0" err="1"/>
              <a:t>page</a:t>
            </a:r>
            <a:r>
              <a:rPr lang="pt-BR" sz="2000" dirty="0"/>
              <a:t>,  Autenticação,  Perfil,  </a:t>
            </a:r>
            <a:r>
              <a:rPr lang="pt-BR" sz="2000" u="sng" dirty="0"/>
              <a:t>Treinos</a:t>
            </a:r>
            <a:r>
              <a:rPr lang="pt-BR" sz="2000" dirty="0"/>
              <a:t>,  Metas diárias,  Termos e Privacidade</a:t>
            </a:r>
          </a:p>
        </p:txBody>
      </p:sp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4"/>
            <a:ext cx="7960421" cy="1450217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Objetivos do sistema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6744DD-5BC8-42C8-4313-13CE95ED5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343" y="2103039"/>
            <a:ext cx="7929940" cy="3979625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sz="2400" dirty="0"/>
              <a:t>Ajudar o usuário a criar consistência em hábitos de saúde com gamificação</a:t>
            </a:r>
          </a:p>
          <a:p>
            <a:pPr lvl="1"/>
            <a:r>
              <a:rPr lang="pt-BR" sz="2400" dirty="0"/>
              <a:t>Registrar treinos, metas diárias e dados de perfil</a:t>
            </a:r>
          </a:p>
          <a:p>
            <a:pPr lvl="1"/>
            <a:r>
              <a:rPr lang="pt-BR" sz="2400" dirty="0"/>
              <a:t>Personalizar metas a partir de peso, altura e objetivos</a:t>
            </a:r>
          </a:p>
        </p:txBody>
      </p: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AEA86-9E4D-F40F-D581-A1DD9F9C2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59B7E1-8C30-460C-C145-B63E47721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1684059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Arquitetura Geral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A83E29-A981-2105-9D11-89E04799497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Front-</a:t>
            </a:r>
            <a:r>
              <a:rPr lang="pt-BR" dirty="0" err="1"/>
              <a:t>end</a:t>
            </a:r>
            <a:r>
              <a:rPr lang="pt-BR" dirty="0"/>
              <a:t>: HTML, CSS e </a:t>
            </a:r>
            <a:r>
              <a:rPr lang="pt-BR" dirty="0" err="1"/>
              <a:t>JavaScript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Back-</a:t>
            </a:r>
            <a:r>
              <a:rPr lang="pt-BR" dirty="0" err="1"/>
              <a:t>end</a:t>
            </a:r>
            <a:r>
              <a:rPr lang="pt-BR" dirty="0"/>
              <a:t>: PHP para login, cadastro, perfil e metas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Banco de dados: MySQL com tabelas de usuários e metas diárias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3168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55124-8466-7A8C-7EC7-1FB78E099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AC358-C598-2C47-299A-C92367475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1684059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Fluxo principal do usuário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D576BB-9CB1-7221-E2FC-37F82F2B19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Usuário acessa a </a:t>
            </a:r>
            <a:r>
              <a:rPr lang="pt-BR" b="1" dirty="0"/>
              <a:t>landing </a:t>
            </a:r>
            <a:r>
              <a:rPr lang="pt-BR" b="1" dirty="0" err="1"/>
              <a:t>page</a:t>
            </a:r>
            <a:r>
              <a:rPr lang="pt-BR" dirty="0"/>
              <a:t> index.html com seções: Início, Sobre e Como funciona. Realiza login ou cadastro por modais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partir dos botões </a:t>
            </a:r>
            <a:r>
              <a:rPr lang="pt-BR" b="1" dirty="0"/>
              <a:t>“Entrar”</a:t>
            </a:r>
            <a:r>
              <a:rPr lang="pt-BR" dirty="0"/>
              <a:t> e </a:t>
            </a:r>
            <a:r>
              <a:rPr lang="pt-BR" b="1" dirty="0"/>
              <a:t>“Cadastre-se”</a:t>
            </a:r>
            <a:r>
              <a:rPr lang="pt-BR" dirty="0"/>
              <a:t>, são abertas modais de login/cadastro via data-open.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Após cadastro/autenticação (via PHP), usuário é direcionado para a </a:t>
            </a:r>
            <a:r>
              <a:rPr lang="pt-BR" b="1" dirty="0"/>
              <a:t>área logada.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Na área logada, o </a:t>
            </a:r>
            <a:r>
              <a:rPr lang="pt-BR" b="1" dirty="0" err="1"/>
              <a:t>navbar</a:t>
            </a:r>
            <a:r>
              <a:rPr lang="pt-BR" dirty="0"/>
              <a:t> mostra um avatar de perfil com menu para:</a:t>
            </a:r>
          </a:p>
          <a:p>
            <a:pPr marL="971550" lvl="1" indent="-285750"/>
            <a:r>
              <a:rPr lang="pt-BR" dirty="0"/>
              <a:t>Perfil</a:t>
            </a:r>
          </a:p>
          <a:p>
            <a:pPr marL="971550" lvl="1" indent="-285750"/>
            <a:r>
              <a:rPr lang="pt-BR" dirty="0"/>
              <a:t>Metas</a:t>
            </a:r>
          </a:p>
          <a:p>
            <a:pPr marL="971550" lvl="1" indent="-285750"/>
            <a:r>
              <a:rPr lang="pt-BR" b="1" dirty="0"/>
              <a:t>Treinos</a:t>
            </a:r>
            <a:r>
              <a:rPr lang="pt-BR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Usuário preenche perfil, registra treinos e metas diárias, que são salvas no banco.</a:t>
            </a:r>
          </a:p>
        </p:txBody>
      </p:sp>
    </p:spTree>
    <p:extLst>
      <p:ext uri="{BB962C8B-B14F-4D97-AF65-F5344CB8AC3E}">
        <p14:creationId xmlns:p14="http://schemas.microsoft.com/office/powerpoint/2010/main" val="4068598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53C4F-EAAB-3343-9A7C-2D20B515D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50500D-C798-74FD-5229-B60A80E7E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4"/>
            <a:ext cx="7960421" cy="1450217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Navegação, header e </a:t>
            </a:r>
            <a:r>
              <a:rPr lang="pt-BR" dirty="0" err="1"/>
              <a:t>footer</a:t>
            </a:r>
            <a:r>
              <a:rPr lang="pt-BR" dirty="0"/>
              <a:t> reutilizáveis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4030FC-2805-DBC8-F0D4-61B387F00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343" y="2103039"/>
            <a:ext cx="7929940" cy="3979625"/>
          </a:xfrm>
        </p:spPr>
        <p:txBody>
          <a:bodyPr rtlCol="0">
            <a:normAutofit fontScale="92500" lnSpcReduction="10000"/>
          </a:bodyPr>
          <a:lstStyle>
            <a:defPPr>
              <a:defRPr lang="pt-BR"/>
            </a:defPPr>
          </a:lstStyle>
          <a:p>
            <a:r>
              <a:rPr lang="pt-BR" sz="2400" dirty="0"/>
              <a:t>Componentes HTML parciais: </a:t>
            </a:r>
          </a:p>
          <a:p>
            <a:pPr lvl="1"/>
            <a:r>
              <a:rPr lang="pt-BR" dirty="0"/>
              <a:t>navbaar.html</a:t>
            </a:r>
            <a:r>
              <a:rPr lang="pt-BR" sz="1800" dirty="0"/>
              <a:t>: cabeçalho com logo </a:t>
            </a:r>
            <a:r>
              <a:rPr lang="pt-BR" sz="1800" dirty="0" err="1"/>
              <a:t>BodyQuest</a:t>
            </a:r>
            <a:r>
              <a:rPr lang="pt-BR" sz="1800" dirty="0"/>
              <a:t>, menu vazio e botão de </a:t>
            </a:r>
            <a:r>
              <a:rPr lang="pt-BR" sz="1800" b="1" dirty="0"/>
              <a:t>perfil</a:t>
            </a:r>
            <a:r>
              <a:rPr lang="pt-BR" sz="1800" dirty="0"/>
              <a:t> com menu </a:t>
            </a:r>
            <a:r>
              <a:rPr lang="pt-BR" sz="1800" dirty="0" err="1"/>
              <a:t>dropdown</a:t>
            </a:r>
            <a:r>
              <a:rPr lang="pt-BR" sz="1800" dirty="0"/>
              <a:t> para Perfil, Metas, Treinos.</a:t>
            </a:r>
          </a:p>
          <a:p>
            <a:pPr lvl="1"/>
            <a:r>
              <a:rPr lang="pt-BR" dirty="0"/>
              <a:t>footer.html</a:t>
            </a:r>
            <a:r>
              <a:rPr lang="pt-BR" sz="1800" dirty="0"/>
              <a:t>: rodapé com marca </a:t>
            </a:r>
            <a:r>
              <a:rPr lang="pt-BR" sz="1800" dirty="0" err="1"/>
              <a:t>BodyQuest</a:t>
            </a:r>
            <a:r>
              <a:rPr lang="pt-BR" sz="1800" dirty="0"/>
              <a:t> e links para </a:t>
            </a:r>
            <a:r>
              <a:rPr lang="pt-BR" sz="1800" b="1" dirty="0"/>
              <a:t>Privacidade</a:t>
            </a:r>
            <a:r>
              <a:rPr lang="pt-BR" sz="1800" dirty="0"/>
              <a:t> e </a:t>
            </a:r>
            <a:r>
              <a:rPr lang="pt-BR" sz="1800" b="1" dirty="0"/>
              <a:t>Termos</a:t>
            </a:r>
            <a:r>
              <a:rPr lang="pt-BR" sz="1800" dirty="0"/>
              <a:t>. </a:t>
            </a:r>
          </a:p>
          <a:p>
            <a:r>
              <a:rPr lang="pt-BR" dirty="0" err="1"/>
              <a:t>Views</a:t>
            </a:r>
            <a:r>
              <a:rPr lang="pt-BR" dirty="0"/>
              <a:t> internas (mainpg.html, profile.html, tasks.html, workouts.html, terms.html, privacy.html) incluem esses componentes via atributo data-include.</a:t>
            </a:r>
          </a:p>
          <a:p>
            <a:r>
              <a:rPr lang="pt-BR" dirty="0"/>
              <a:t>includes.js:</a:t>
            </a:r>
          </a:p>
          <a:p>
            <a:pPr lvl="1"/>
            <a:r>
              <a:rPr lang="pt-BR" dirty="0"/>
              <a:t>Faz </a:t>
            </a:r>
            <a:r>
              <a:rPr lang="pt-BR" dirty="0" err="1"/>
              <a:t>fetch</a:t>
            </a:r>
            <a:r>
              <a:rPr lang="pt-BR" dirty="0"/>
              <a:t>() dos arquivos referenciados em data-include e injeta o HTML na página.</a:t>
            </a:r>
          </a:p>
          <a:p>
            <a:r>
              <a:rPr lang="pt-BR" dirty="0"/>
              <a:t>Resultado: </a:t>
            </a:r>
            <a:r>
              <a:rPr lang="pt-BR" b="1" dirty="0" err="1"/>
              <a:t>nav</a:t>
            </a:r>
            <a:r>
              <a:rPr lang="pt-BR" b="1" dirty="0"/>
              <a:t> e </a:t>
            </a:r>
            <a:r>
              <a:rPr lang="pt-BR" b="1" dirty="0" err="1"/>
              <a:t>footer</a:t>
            </a:r>
            <a:r>
              <a:rPr lang="pt-BR" b="1" dirty="0"/>
              <a:t> consistentes</a:t>
            </a:r>
            <a:r>
              <a:rPr lang="pt-BR" dirty="0"/>
              <a:t> em todas as páginas, com baixo acoplamento e fácil manutenção.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6893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1BA82-AB8B-E1F6-9EFC-54649100C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842898-3FD2-5EC6-EE58-D3DF39B94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1684059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Página de Perfil do usuário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A85825-0BFE-E2AA-D148-E97032EF669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Objetivo: coletar dados necessários para </a:t>
            </a:r>
            <a:r>
              <a:rPr lang="pt-BR" b="1" dirty="0"/>
              <a:t>personalizar desafios e </a:t>
            </a:r>
            <a:r>
              <a:rPr lang="pt-BR" b="1" dirty="0" err="1"/>
              <a:t>metas</a:t>
            </a:r>
            <a:r>
              <a:rPr lang="pt-BR" dirty="0" err="1"/>
              <a:t>.A</a:t>
            </a:r>
            <a:r>
              <a:rPr lang="pt-BR" dirty="0"/>
              <a:t> partir dos botões </a:t>
            </a:r>
            <a:r>
              <a:rPr lang="pt-BR" b="1" dirty="0"/>
              <a:t>“Entrar”</a:t>
            </a:r>
            <a:r>
              <a:rPr lang="pt-BR" dirty="0"/>
              <a:t> e </a:t>
            </a:r>
            <a:r>
              <a:rPr lang="pt-BR" b="1" dirty="0"/>
              <a:t>“Cadastre-se”</a:t>
            </a:r>
            <a:r>
              <a:rPr lang="pt-BR" dirty="0"/>
              <a:t>, são abertas modais de login/cadastro via data-open.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Formulário envia via método </a:t>
            </a:r>
            <a:r>
              <a:rPr lang="pt-BR" b="1" dirty="0"/>
              <a:t>POST</a:t>
            </a:r>
            <a:r>
              <a:rPr lang="pt-BR" dirty="0"/>
              <a:t> para ../api/</a:t>
            </a:r>
            <a:r>
              <a:rPr lang="pt-BR" dirty="0" err="1"/>
              <a:t>salvar_perfil.php</a:t>
            </a:r>
            <a:r>
              <a:rPr lang="pt-BR" dirty="0"/>
              <a:t>, que é o </a:t>
            </a:r>
            <a:r>
              <a:rPr lang="pt-BR" dirty="0" err="1"/>
              <a:t>endpoint</a:t>
            </a:r>
            <a:r>
              <a:rPr lang="pt-BR" dirty="0"/>
              <a:t> PHP responsável por gravar os dados no banco.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Textos explicativos reforçam que esses dados serão usados para </a:t>
            </a:r>
            <a:r>
              <a:rPr lang="pt-BR" b="1" dirty="0"/>
              <a:t>personalizar os desafios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9054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417A3-B9A3-3619-6A6B-4DD583068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9D7E8-F770-5FA5-25F7-3D919CB98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1684059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Validação de Perfil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CB9FCB-177B-AEBC-EB94-9EA6BC090F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Arquivo: profile.js vinculado em profile.html.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Comportamento principal:</a:t>
            </a:r>
          </a:p>
          <a:p>
            <a:pPr marL="971550" lvl="1" indent="-285750"/>
            <a:r>
              <a:rPr lang="pt-BR" dirty="0"/>
              <a:t>Intercepta o </a:t>
            </a:r>
            <a:r>
              <a:rPr lang="pt-BR" dirty="0" err="1"/>
              <a:t>submit</a:t>
            </a:r>
            <a:r>
              <a:rPr lang="pt-BR" dirty="0"/>
              <a:t> do formulário </a:t>
            </a:r>
            <a:r>
              <a:rPr lang="pt-BR" b="1" dirty="0"/>
              <a:t>#form-perfil</a:t>
            </a:r>
            <a:r>
              <a:rPr lang="pt-BR" dirty="0"/>
              <a:t>.</a:t>
            </a:r>
          </a:p>
          <a:p>
            <a:pPr marL="971550" lvl="1" indent="-285750"/>
            <a:r>
              <a:rPr lang="pt-BR" dirty="0"/>
              <a:t>Lê valores de peso, altura, gênero, objetivo de treino e objetivo de peso.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Regras de validação:</a:t>
            </a:r>
          </a:p>
          <a:p>
            <a:pPr marL="971550" lvl="1" indent="-285750"/>
            <a:r>
              <a:rPr lang="pt-BR" b="1" dirty="0"/>
              <a:t>Peso</a:t>
            </a:r>
            <a:r>
              <a:rPr lang="pt-BR" dirty="0"/>
              <a:t> obrigatório, faixa válida entre </a:t>
            </a:r>
            <a:r>
              <a:rPr lang="pt-BR" b="1" dirty="0"/>
              <a:t>20 e 400 kg</a:t>
            </a:r>
            <a:r>
              <a:rPr lang="pt-BR" dirty="0"/>
              <a:t>.</a:t>
            </a:r>
          </a:p>
          <a:p>
            <a:pPr marL="971550" lvl="1" indent="-285750"/>
            <a:r>
              <a:rPr lang="pt-BR" b="1" dirty="0"/>
              <a:t>Altura</a:t>
            </a:r>
            <a:r>
              <a:rPr lang="pt-BR" dirty="0"/>
              <a:t> obrigatória, faixa válida entre </a:t>
            </a:r>
            <a:r>
              <a:rPr lang="pt-BR" b="1" dirty="0"/>
              <a:t>1.20 m e 2.50 m</a:t>
            </a:r>
            <a:r>
              <a:rPr lang="pt-BR" dirty="0"/>
              <a:t>.</a:t>
            </a:r>
          </a:p>
          <a:p>
            <a:pPr marL="971550" lvl="1" indent="-285750"/>
            <a:r>
              <a:rPr lang="pt-BR" dirty="0"/>
              <a:t>Pelo menos um </a:t>
            </a:r>
            <a:r>
              <a:rPr lang="pt-BR" b="1" dirty="0"/>
              <a:t>gênero</a:t>
            </a:r>
            <a:r>
              <a:rPr lang="pt-BR" dirty="0"/>
              <a:t> selecionado.</a:t>
            </a:r>
          </a:p>
          <a:p>
            <a:pPr marL="971550" lvl="1" indent="-285750"/>
            <a:r>
              <a:rPr lang="pt-BR" dirty="0"/>
              <a:t>Pelo menos um </a:t>
            </a:r>
            <a:r>
              <a:rPr lang="pt-BR" b="1" dirty="0"/>
              <a:t>objetivo de treino</a:t>
            </a:r>
            <a:r>
              <a:rPr lang="pt-BR" dirty="0"/>
              <a:t> marcado.</a:t>
            </a:r>
          </a:p>
          <a:p>
            <a:pPr marL="971550" lvl="1" indent="-285750"/>
            <a:r>
              <a:rPr lang="pt-BR" dirty="0"/>
              <a:t>Obrigatório selecionar um </a:t>
            </a:r>
            <a:r>
              <a:rPr lang="pt-BR" b="1" dirty="0"/>
              <a:t>objetivo de peso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2165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54C2D-A728-24FE-948B-09ED37737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140F32-DB52-61B9-3B16-0ED9EDA1B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4"/>
            <a:ext cx="7960421" cy="1450217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Módulo “Meus treinos”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95B927-BD73-B9E8-CD81-9180FDD58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2" y="1545255"/>
            <a:ext cx="9041194" cy="4508073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Objetivo: permitir ao usuário </a:t>
            </a:r>
            <a:r>
              <a:rPr lang="pt-BR" b="1" dirty="0"/>
              <a:t>cadastrar e gerenciar treinos</a:t>
            </a:r>
            <a:r>
              <a:rPr lang="pt-BR" dirty="0"/>
              <a:t>.</a:t>
            </a:r>
          </a:p>
          <a:p>
            <a:r>
              <a:rPr lang="pt-BR" dirty="0"/>
              <a:t>Estrutura:</a:t>
            </a:r>
          </a:p>
          <a:p>
            <a:pPr lvl="1"/>
            <a:r>
              <a:rPr lang="pt-BR" dirty="0"/>
              <a:t>Cabeçalho com título “Meus treinos” e texto explicando que é possível adicionar exercícios, séries, repetições e duração.</a:t>
            </a:r>
          </a:p>
          <a:p>
            <a:pPr lvl="1"/>
            <a:r>
              <a:rPr lang="pt-BR" dirty="0"/>
              <a:t>Ações principais:</a:t>
            </a:r>
          </a:p>
          <a:p>
            <a:pPr lvl="2"/>
            <a:r>
              <a:rPr lang="pt-BR" dirty="0"/>
              <a:t>Botão </a:t>
            </a:r>
            <a:r>
              <a:rPr lang="pt-BR" b="1" dirty="0"/>
              <a:t>“Criar treino”</a:t>
            </a:r>
            <a:r>
              <a:rPr lang="pt-BR" dirty="0"/>
              <a:t> (#add-workout-btn).</a:t>
            </a:r>
          </a:p>
          <a:p>
            <a:pPr lvl="2"/>
            <a:r>
              <a:rPr lang="pt-BR" dirty="0"/>
              <a:t>Botão </a:t>
            </a:r>
            <a:r>
              <a:rPr lang="pt-BR" b="1" dirty="0"/>
              <a:t>“Adicionar exercício ao treino”</a:t>
            </a:r>
            <a:r>
              <a:rPr lang="pt-BR" dirty="0"/>
              <a:t> (#open-btn).</a:t>
            </a:r>
          </a:p>
          <a:p>
            <a:pPr lvl="1"/>
            <a:r>
              <a:rPr lang="pt-BR" dirty="0"/>
              <a:t>Área de conteúdo:</a:t>
            </a:r>
          </a:p>
          <a:p>
            <a:pPr lvl="2"/>
            <a:r>
              <a:rPr lang="pt-BR" dirty="0"/>
              <a:t>Mensagem de vazio: “Você ainda não cadastrou nenhum treino. Clique em Criar treino para começar.”</a:t>
            </a:r>
          </a:p>
          <a:p>
            <a:pPr lvl="2"/>
            <a:r>
              <a:rPr lang="pt-BR" dirty="0"/>
              <a:t>Grid #workouts-grid para cards de treinos (no estado atual, populado apenas via JS futuramente).</a:t>
            </a:r>
          </a:p>
        </p:txBody>
      </p:sp>
    </p:spTree>
    <p:extLst>
      <p:ext uri="{BB962C8B-B14F-4D97-AF65-F5344CB8AC3E}">
        <p14:creationId xmlns:p14="http://schemas.microsoft.com/office/powerpoint/2010/main" val="177980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96DE3-77EE-5E6E-4B95-B3B0F5B25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5E73F-DF30-6464-426E-F7DB2EE7A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1684059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Módulo “Metas diárias”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35DB1-1084-9B91-DBD5-A862625144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Objetivo: permitir registrar um resumo diário de hábitos:</a:t>
            </a:r>
          </a:p>
          <a:p>
            <a:pPr marL="971550" lvl="1" indent="-285750"/>
            <a:r>
              <a:rPr lang="pt-BR" dirty="0"/>
              <a:t>Treino do dia.</a:t>
            </a:r>
          </a:p>
          <a:p>
            <a:pPr marL="971550" lvl="1" indent="-285750"/>
            <a:r>
              <a:rPr lang="pt-BR" dirty="0"/>
              <a:t>Quantidade de água.</a:t>
            </a:r>
          </a:p>
          <a:p>
            <a:pPr marL="971550" lvl="1" indent="-285750"/>
            <a:r>
              <a:rPr lang="pt-BR" dirty="0"/>
              <a:t>Quantidade de sono.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Estrutura da página:</a:t>
            </a:r>
          </a:p>
          <a:p>
            <a:pPr marL="971550" lvl="1" indent="-285750"/>
            <a:r>
              <a:rPr lang="pt-BR" dirty="0"/>
              <a:t>Botão </a:t>
            </a:r>
            <a:r>
              <a:rPr lang="pt-BR" b="1" dirty="0"/>
              <a:t>“Adicionar metas”</a:t>
            </a:r>
            <a:r>
              <a:rPr lang="pt-BR" dirty="0"/>
              <a:t> (#addTaskBtn) abre um &lt;</a:t>
            </a:r>
            <a:r>
              <a:rPr lang="pt-BR" dirty="0" err="1"/>
              <a:t>dialog</a:t>
            </a:r>
            <a:r>
              <a:rPr lang="pt-BR" dirty="0"/>
              <a:t>&gt; com formulário. </a:t>
            </a:r>
          </a:p>
          <a:p>
            <a:pPr marL="971550" lvl="1" indent="-285750"/>
            <a:r>
              <a:rPr lang="pt-BR" dirty="0"/>
              <a:t>Tabela #tasksTable com colunas: Dia, Metas concluídas,  Alterar,  Ver metas.</a:t>
            </a:r>
          </a:p>
          <a:p>
            <a:pPr marL="971550" lvl="1" indent="-285750"/>
            <a:r>
              <a:rPr lang="pt-BR" dirty="0" err="1"/>
              <a:t>Dialog</a:t>
            </a:r>
            <a:r>
              <a:rPr lang="pt-BR" dirty="0"/>
              <a:t> #taskDialog para criar/alterar metas do dia.</a:t>
            </a:r>
          </a:p>
          <a:p>
            <a:pPr marL="971550" lvl="1" indent="-285750"/>
            <a:r>
              <a:rPr lang="pt-BR" dirty="0" err="1"/>
              <a:t>Dialog</a:t>
            </a:r>
            <a:r>
              <a:rPr lang="pt-BR" dirty="0"/>
              <a:t> #viewDialog para visualizar detalhes de uma meta específica.</a:t>
            </a:r>
          </a:p>
          <a:p>
            <a:pPr lvl="1" indent="0">
              <a:buNone/>
            </a:pPr>
            <a:endParaRPr lang="pt-BR" dirty="0"/>
          </a:p>
          <a:p>
            <a:pPr lvl="1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9280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42082-B08A-C11C-3BC7-7EAA15B3E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F36D28-277D-7F5D-7C2E-37931A8E0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4"/>
            <a:ext cx="7960421" cy="1450217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Integração Metas ⇔ Back-</a:t>
            </a:r>
            <a:r>
              <a:rPr lang="pt-BR" dirty="0" err="1"/>
              <a:t>end</a:t>
            </a:r>
            <a:r>
              <a:rPr lang="pt-BR" dirty="0"/>
              <a:t> e Banco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A3CE11-C78A-E708-2C55-AB760749B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2" y="1664127"/>
            <a:ext cx="10687114" cy="5193873"/>
          </a:xfrm>
        </p:spPr>
        <p:txBody>
          <a:bodyPr rtlCol="0">
            <a:normAutofit fontScale="92500" lnSpcReduction="20000"/>
          </a:bodyPr>
          <a:lstStyle>
            <a:defPPr>
              <a:defRPr lang="pt-BR"/>
            </a:defPPr>
          </a:lstStyle>
          <a:p>
            <a:r>
              <a:rPr lang="pt-BR" dirty="0"/>
              <a:t>tasks.js integra com o </a:t>
            </a:r>
            <a:r>
              <a:rPr lang="pt-BR" dirty="0" err="1"/>
              <a:t>endpoint</a:t>
            </a:r>
            <a:r>
              <a:rPr lang="pt-BR" dirty="0"/>
              <a:t> PHP ../api/</a:t>
            </a:r>
            <a:r>
              <a:rPr lang="pt-BR" dirty="0" err="1"/>
              <a:t>metas.php</a:t>
            </a:r>
            <a:r>
              <a:rPr lang="pt-BR" dirty="0"/>
              <a:t> tanto para GET (listar metas) quanto para POST (salvar/alterar).</a:t>
            </a:r>
          </a:p>
          <a:p>
            <a:r>
              <a:rPr lang="pt-BR" dirty="0"/>
              <a:t>Estrutura esperada de dados (já mapeada no front):</a:t>
            </a:r>
          </a:p>
          <a:p>
            <a:pPr lvl="1"/>
            <a:r>
              <a:rPr lang="pt-BR" dirty="0"/>
              <a:t>id, dia, treino, agua, sono, </a:t>
            </a:r>
            <a:r>
              <a:rPr lang="pt-BR" dirty="0" err="1"/>
              <a:t>concluido</a:t>
            </a:r>
            <a:r>
              <a:rPr lang="pt-BR" dirty="0"/>
              <a:t>.</a:t>
            </a:r>
          </a:p>
          <a:p>
            <a:r>
              <a:rPr lang="pt-BR" dirty="0"/>
              <a:t>Banco de dados:</a:t>
            </a:r>
          </a:p>
          <a:p>
            <a:pPr lvl="1"/>
            <a:r>
              <a:rPr lang="pt-BR" dirty="0"/>
              <a:t>Tabela </a:t>
            </a:r>
            <a:r>
              <a:rPr lang="pt-BR" b="1" dirty="0" err="1"/>
              <a:t>metas_diarias</a:t>
            </a:r>
            <a:r>
              <a:rPr lang="pt-BR" dirty="0"/>
              <a:t>:</a:t>
            </a:r>
          </a:p>
          <a:p>
            <a:pPr lvl="2"/>
            <a:r>
              <a:rPr lang="pt-BR" dirty="0"/>
              <a:t>id (PK, auto </a:t>
            </a:r>
            <a:r>
              <a:rPr lang="pt-BR" dirty="0" err="1"/>
              <a:t>increment</a:t>
            </a:r>
            <a:r>
              <a:rPr lang="pt-BR" dirty="0"/>
              <a:t>)</a:t>
            </a:r>
          </a:p>
          <a:p>
            <a:pPr lvl="2"/>
            <a:r>
              <a:rPr lang="pt-BR" dirty="0" err="1"/>
              <a:t>usuario_id</a:t>
            </a:r>
            <a:r>
              <a:rPr lang="pt-BR" dirty="0"/>
              <a:t> – vincula ao usuário cadastrado (FK para tabela cadastro).</a:t>
            </a:r>
          </a:p>
          <a:p>
            <a:pPr lvl="2"/>
            <a:r>
              <a:rPr lang="pt-BR" dirty="0"/>
              <a:t>dia – data da meta.</a:t>
            </a:r>
          </a:p>
          <a:p>
            <a:pPr lvl="2"/>
            <a:r>
              <a:rPr lang="pt-BR" dirty="0"/>
              <a:t>treino – texto com tipo de treino.</a:t>
            </a:r>
          </a:p>
          <a:p>
            <a:pPr lvl="2"/>
            <a:r>
              <a:rPr lang="pt-BR" dirty="0" err="1"/>
              <a:t>agua_litros</a:t>
            </a:r>
            <a:r>
              <a:rPr lang="pt-BR" dirty="0"/>
              <a:t> – quantidade de água em litros (DECIMAL(4,2)).</a:t>
            </a:r>
          </a:p>
          <a:p>
            <a:pPr lvl="2"/>
            <a:r>
              <a:rPr lang="pt-BR" dirty="0"/>
              <a:t>sono – faixa de horas de sono.</a:t>
            </a:r>
          </a:p>
          <a:p>
            <a:pPr lvl="2"/>
            <a:r>
              <a:rPr lang="pt-BR" dirty="0" err="1"/>
              <a:t>concluido</a:t>
            </a:r>
            <a:r>
              <a:rPr lang="pt-BR" dirty="0"/>
              <a:t> – flag (0/1) indicando se metas foram cumpridas.</a:t>
            </a:r>
          </a:p>
          <a:p>
            <a:pPr lvl="2"/>
            <a:r>
              <a:rPr lang="en-US" dirty="0" err="1"/>
              <a:t>created_at</a:t>
            </a:r>
            <a:r>
              <a:rPr lang="en-US" dirty="0"/>
              <a:t>, </a:t>
            </a:r>
            <a:r>
              <a:rPr lang="en-US" dirty="0" err="1"/>
              <a:t>updated_at</a:t>
            </a:r>
            <a:r>
              <a:rPr lang="en-US" dirty="0"/>
              <a:t> – timestamps </a:t>
            </a:r>
            <a:r>
              <a:rPr lang="en-US" dirty="0" err="1"/>
              <a:t>automáticos</a:t>
            </a:r>
            <a:r>
              <a:rPr lang="en-US" dirty="0"/>
              <a:t>.</a:t>
            </a:r>
            <a:endParaRPr lang="pt-BR" dirty="0"/>
          </a:p>
          <a:p>
            <a:r>
              <a:rPr lang="pt-BR" dirty="0"/>
              <a:t>Chave única </a:t>
            </a:r>
            <a:r>
              <a:rPr lang="pt-BR" dirty="0" err="1"/>
              <a:t>uk_usuario_dia</a:t>
            </a:r>
            <a:r>
              <a:rPr lang="pt-BR" dirty="0"/>
              <a:t> (</a:t>
            </a:r>
            <a:r>
              <a:rPr lang="pt-BR" dirty="0" err="1"/>
              <a:t>usuario_id</a:t>
            </a:r>
            <a:r>
              <a:rPr lang="pt-BR" dirty="0"/>
              <a:t>, dia) garante </a:t>
            </a:r>
            <a:r>
              <a:rPr lang="pt-BR" b="1" dirty="0"/>
              <a:t>apenas uma meta por dia por usuário</a:t>
            </a:r>
            <a:r>
              <a:rPr lang="pt-BR" dirty="0"/>
              <a:t>, alinhado com a lógica do front que impede adicionar metas repetidas no mesmo dia.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1298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7E29F-04BB-B6DE-625E-439D5DB93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7DF7B9-6C90-763A-E196-7B8A9EE0D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4"/>
            <a:ext cx="7960421" cy="1450217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Integração Metas ⇔ Back-</a:t>
            </a:r>
            <a:r>
              <a:rPr lang="pt-BR" dirty="0" err="1"/>
              <a:t>end</a:t>
            </a:r>
            <a:r>
              <a:rPr lang="pt-BR" dirty="0"/>
              <a:t> e Banco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909891-7DB8-79F8-E906-2DA707FFF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2" y="1664127"/>
            <a:ext cx="10687114" cy="5193873"/>
          </a:xfrm>
        </p:spPr>
        <p:txBody>
          <a:bodyPr rtlCol="0">
            <a:normAutofit fontScale="92500" lnSpcReduction="20000"/>
          </a:bodyPr>
          <a:lstStyle>
            <a:defPPr>
              <a:defRPr lang="pt-BR"/>
            </a:defPPr>
          </a:lstStyle>
          <a:p>
            <a:r>
              <a:rPr lang="pt-BR" dirty="0"/>
              <a:t>tasks.js integra com o </a:t>
            </a:r>
            <a:r>
              <a:rPr lang="pt-BR" dirty="0" err="1"/>
              <a:t>endpoint</a:t>
            </a:r>
            <a:r>
              <a:rPr lang="pt-BR" dirty="0"/>
              <a:t> PHP ../api/</a:t>
            </a:r>
            <a:r>
              <a:rPr lang="pt-BR" dirty="0" err="1"/>
              <a:t>metas.php</a:t>
            </a:r>
            <a:r>
              <a:rPr lang="pt-BR" dirty="0"/>
              <a:t> tanto para GET (listar metas) quanto para POST (salvar/alterar).</a:t>
            </a:r>
          </a:p>
          <a:p>
            <a:r>
              <a:rPr lang="pt-BR" dirty="0"/>
              <a:t>Estrutura esperada de dados (já mapeada no front):</a:t>
            </a:r>
          </a:p>
          <a:p>
            <a:pPr lvl="1"/>
            <a:r>
              <a:rPr lang="pt-BR" dirty="0"/>
              <a:t>id, dia, treino, agua, sono, </a:t>
            </a:r>
            <a:r>
              <a:rPr lang="pt-BR" dirty="0" err="1"/>
              <a:t>concluido</a:t>
            </a:r>
            <a:r>
              <a:rPr lang="pt-BR" dirty="0"/>
              <a:t>.</a:t>
            </a:r>
          </a:p>
          <a:p>
            <a:r>
              <a:rPr lang="pt-BR" dirty="0"/>
              <a:t>Banco de dados:</a:t>
            </a:r>
          </a:p>
          <a:p>
            <a:pPr lvl="1"/>
            <a:r>
              <a:rPr lang="pt-BR" dirty="0"/>
              <a:t>Tabela </a:t>
            </a:r>
            <a:r>
              <a:rPr lang="pt-BR" b="1" dirty="0" err="1"/>
              <a:t>metas_diarias</a:t>
            </a:r>
            <a:r>
              <a:rPr lang="pt-BR" dirty="0"/>
              <a:t>:</a:t>
            </a:r>
          </a:p>
          <a:p>
            <a:pPr lvl="2"/>
            <a:r>
              <a:rPr lang="pt-BR" dirty="0"/>
              <a:t>id (PK, auto </a:t>
            </a:r>
            <a:r>
              <a:rPr lang="pt-BR" dirty="0" err="1"/>
              <a:t>increment</a:t>
            </a:r>
            <a:r>
              <a:rPr lang="pt-BR" dirty="0"/>
              <a:t>)</a:t>
            </a:r>
          </a:p>
          <a:p>
            <a:pPr lvl="2"/>
            <a:r>
              <a:rPr lang="pt-BR" dirty="0" err="1"/>
              <a:t>usuario_id</a:t>
            </a:r>
            <a:r>
              <a:rPr lang="pt-BR" dirty="0"/>
              <a:t> – vincula ao usuário cadastrado (FK para tabela cadastro).</a:t>
            </a:r>
          </a:p>
          <a:p>
            <a:pPr lvl="2"/>
            <a:r>
              <a:rPr lang="pt-BR" dirty="0"/>
              <a:t>dia – data da meta.</a:t>
            </a:r>
          </a:p>
          <a:p>
            <a:pPr lvl="2"/>
            <a:r>
              <a:rPr lang="pt-BR" dirty="0"/>
              <a:t>treino – texto com tipo de treino.</a:t>
            </a:r>
          </a:p>
          <a:p>
            <a:pPr lvl="2"/>
            <a:r>
              <a:rPr lang="pt-BR" dirty="0" err="1"/>
              <a:t>agua_litros</a:t>
            </a:r>
            <a:r>
              <a:rPr lang="pt-BR" dirty="0"/>
              <a:t> – quantidade de água em litros (DECIMAL(4,2)).</a:t>
            </a:r>
          </a:p>
          <a:p>
            <a:pPr lvl="2"/>
            <a:r>
              <a:rPr lang="pt-BR" dirty="0"/>
              <a:t>sono – faixa de horas de sono.</a:t>
            </a:r>
          </a:p>
          <a:p>
            <a:pPr lvl="2"/>
            <a:r>
              <a:rPr lang="pt-BR" dirty="0" err="1"/>
              <a:t>concluido</a:t>
            </a:r>
            <a:r>
              <a:rPr lang="pt-BR" dirty="0"/>
              <a:t> – flag (0/1) indicando se metas foram cumpridas.</a:t>
            </a:r>
          </a:p>
          <a:p>
            <a:pPr lvl="2"/>
            <a:r>
              <a:rPr lang="en-US" dirty="0" err="1"/>
              <a:t>created_at</a:t>
            </a:r>
            <a:r>
              <a:rPr lang="en-US" dirty="0"/>
              <a:t>, </a:t>
            </a:r>
            <a:r>
              <a:rPr lang="en-US" dirty="0" err="1"/>
              <a:t>updated_at</a:t>
            </a:r>
            <a:r>
              <a:rPr lang="en-US" dirty="0"/>
              <a:t> – timestamps </a:t>
            </a:r>
            <a:r>
              <a:rPr lang="en-US" dirty="0" err="1"/>
              <a:t>automáticos</a:t>
            </a:r>
            <a:r>
              <a:rPr lang="en-US" dirty="0"/>
              <a:t>.</a:t>
            </a:r>
            <a:endParaRPr lang="pt-BR" dirty="0"/>
          </a:p>
          <a:p>
            <a:r>
              <a:rPr lang="pt-BR" dirty="0"/>
              <a:t>Chave única </a:t>
            </a:r>
            <a:r>
              <a:rPr lang="pt-BR" dirty="0" err="1"/>
              <a:t>uk_usuario_dia</a:t>
            </a:r>
            <a:r>
              <a:rPr lang="pt-BR" dirty="0"/>
              <a:t> (</a:t>
            </a:r>
            <a:r>
              <a:rPr lang="pt-BR" dirty="0" err="1"/>
              <a:t>usuario_id</a:t>
            </a:r>
            <a:r>
              <a:rPr lang="pt-BR" dirty="0"/>
              <a:t>, dia) garante </a:t>
            </a:r>
            <a:r>
              <a:rPr lang="pt-BR" b="1" dirty="0"/>
              <a:t>apenas uma meta por dia por usuário</a:t>
            </a:r>
            <a:r>
              <a:rPr lang="pt-BR" dirty="0"/>
              <a:t>, alinhado com a lógica do front que impede adicionar metas repetidas no mesmo dia.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408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2D1CB-1B2A-16A4-B43C-EF9DAEB09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6A1FB0-CB5A-8A69-CAB2-CF7CA0B28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4"/>
            <a:ext cx="7960421" cy="1450217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Autenticação e cadastro de usuários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1505E2-0016-19B2-A163-341DF5610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2" y="1353231"/>
            <a:ext cx="10687114" cy="5193873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Landing </a:t>
            </a:r>
            <a:r>
              <a:rPr lang="pt-BR" dirty="0" err="1"/>
              <a:t>page</a:t>
            </a:r>
            <a:r>
              <a:rPr lang="pt-BR" dirty="0"/>
              <a:t> possui duas </a:t>
            </a:r>
            <a:r>
              <a:rPr lang="pt-BR" dirty="0" err="1"/>
              <a:t>modais:Estrutura</a:t>
            </a:r>
            <a:r>
              <a:rPr lang="pt-BR" dirty="0"/>
              <a:t> esperada de dados (já mapeada no front):</a:t>
            </a:r>
          </a:p>
          <a:p>
            <a:pPr lvl="1"/>
            <a:r>
              <a:rPr lang="pt-BR" b="1" dirty="0"/>
              <a:t>Login</a:t>
            </a:r>
            <a:r>
              <a:rPr lang="pt-BR" dirty="0"/>
              <a:t> – formulário com e-mail e senha, POST para ../api/</a:t>
            </a:r>
            <a:r>
              <a:rPr lang="pt-BR" dirty="0" err="1"/>
              <a:t>login.php</a:t>
            </a:r>
            <a:r>
              <a:rPr lang="pt-BR" dirty="0"/>
              <a:t>. Banco de dados:</a:t>
            </a:r>
          </a:p>
          <a:p>
            <a:pPr lvl="1"/>
            <a:r>
              <a:rPr lang="pt-BR" b="1" dirty="0"/>
              <a:t>Criar conta</a:t>
            </a:r>
            <a:r>
              <a:rPr lang="pt-BR" dirty="0"/>
              <a:t> – formulário com nome completo, e-mail, data de nascimento, senha e confirmação, POST para ../api/</a:t>
            </a:r>
            <a:r>
              <a:rPr lang="pt-BR" dirty="0" err="1"/>
              <a:t>cadastro.php</a:t>
            </a:r>
            <a:r>
              <a:rPr lang="pt-BR" dirty="0"/>
              <a:t>.</a:t>
            </a:r>
          </a:p>
          <a:p>
            <a:r>
              <a:rPr lang="pt-BR" dirty="0"/>
              <a:t>Banco:</a:t>
            </a:r>
          </a:p>
          <a:p>
            <a:pPr lvl="1"/>
            <a:r>
              <a:rPr lang="pt-BR" dirty="0"/>
              <a:t>Tabela </a:t>
            </a:r>
            <a:r>
              <a:rPr lang="pt-BR" b="1" dirty="0"/>
              <a:t>cadastro</a:t>
            </a:r>
            <a:r>
              <a:rPr lang="pt-BR" dirty="0"/>
              <a:t>:</a:t>
            </a:r>
          </a:p>
          <a:p>
            <a:pPr lvl="2"/>
            <a:r>
              <a:rPr lang="pt-BR" dirty="0"/>
              <a:t>id (PK)</a:t>
            </a:r>
          </a:p>
          <a:p>
            <a:pPr lvl="2"/>
            <a:r>
              <a:rPr lang="pt-BR" dirty="0" err="1"/>
              <a:t>nome_cadastro</a:t>
            </a:r>
            <a:endParaRPr lang="pt-BR" dirty="0"/>
          </a:p>
          <a:p>
            <a:pPr lvl="2"/>
            <a:r>
              <a:rPr lang="pt-BR" dirty="0" err="1"/>
              <a:t>email_cadastro</a:t>
            </a:r>
            <a:endParaRPr lang="pt-BR" dirty="0"/>
          </a:p>
          <a:p>
            <a:pPr lvl="2"/>
            <a:r>
              <a:rPr lang="pt-BR" dirty="0" err="1"/>
              <a:t>nascimento_cadastro</a:t>
            </a:r>
            <a:endParaRPr lang="pt-BR" dirty="0"/>
          </a:p>
          <a:p>
            <a:pPr lvl="2"/>
            <a:r>
              <a:rPr lang="pt-BR" dirty="0" err="1"/>
              <a:t>senha_cadastro</a:t>
            </a:r>
            <a:r>
              <a:rPr lang="pt-BR" dirty="0"/>
              <a:t> (armazenada como VARCHAR(255) para comportar </a:t>
            </a:r>
            <a:r>
              <a:rPr lang="pt-BR" dirty="0" err="1"/>
              <a:t>hash</a:t>
            </a:r>
            <a:r>
              <a:rPr lang="pt-BR" dirty="0"/>
              <a:t> de senha).</a:t>
            </a:r>
          </a:p>
          <a:p>
            <a:pPr lvl="2"/>
            <a:r>
              <a:rPr lang="pt-BR" dirty="0" err="1"/>
              <a:t>Charset</a:t>
            </a:r>
            <a:r>
              <a:rPr lang="pt-BR" dirty="0"/>
              <a:t> </a:t>
            </a:r>
            <a:r>
              <a:rPr lang="pt-BR" b="1" dirty="0"/>
              <a:t>utf8mb4</a:t>
            </a:r>
            <a:r>
              <a:rPr lang="pt-BR" dirty="0"/>
              <a:t> e </a:t>
            </a:r>
            <a:r>
              <a:rPr lang="pt-BR" dirty="0" err="1"/>
              <a:t>engine</a:t>
            </a:r>
            <a:r>
              <a:rPr lang="pt-BR" dirty="0"/>
              <a:t> </a:t>
            </a:r>
            <a:r>
              <a:rPr lang="pt-BR" b="1" dirty="0" err="1"/>
              <a:t>InnoDB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Assim, </a:t>
            </a:r>
            <a:r>
              <a:rPr lang="pt-BR" dirty="0" err="1"/>
              <a:t>login.php</a:t>
            </a:r>
            <a:r>
              <a:rPr lang="pt-BR" dirty="0"/>
              <a:t> e </a:t>
            </a:r>
            <a:r>
              <a:rPr lang="pt-BR" dirty="0" err="1"/>
              <a:t>cadastro.php</a:t>
            </a:r>
            <a:r>
              <a:rPr lang="pt-BR" dirty="0"/>
              <a:t> utilizam essa tabela para autenticar usuários e criar novas contas, que depois são usadas como FK em </a:t>
            </a:r>
            <a:r>
              <a:rPr lang="pt-BR" dirty="0" err="1"/>
              <a:t>metas_diarias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72096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4110D-1A8E-B21D-7D2E-0964C4CD9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C6501A-922A-9FC0-E803-423A5884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4"/>
            <a:ext cx="7960421" cy="1450217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Design system, layout global e menu de perfil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C991BC-4B6E-8EF2-F233-493AB4BE9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2" y="1865295"/>
            <a:ext cx="10687114" cy="5193873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Arquivo principal: global.css.</a:t>
            </a:r>
          </a:p>
          <a:p>
            <a:r>
              <a:rPr lang="pt-BR" dirty="0"/>
              <a:t>Tokens globais (variáveis CSS):</a:t>
            </a:r>
          </a:p>
          <a:p>
            <a:pPr lvl="1"/>
            <a:r>
              <a:rPr lang="en-US" dirty="0"/>
              <a:t>--</a:t>
            </a:r>
            <a:r>
              <a:rPr lang="en-US" dirty="0" err="1"/>
              <a:t>bg</a:t>
            </a:r>
            <a:r>
              <a:rPr lang="en-US" dirty="0"/>
              <a:t>, --card, --muted, --text, --headline, --accent, --radius, --shadow, etc.</a:t>
            </a:r>
            <a:endParaRPr lang="pt-BR" dirty="0"/>
          </a:p>
          <a:p>
            <a:r>
              <a:rPr lang="pt-BR" dirty="0"/>
              <a:t>Layout da página:</a:t>
            </a:r>
          </a:p>
          <a:p>
            <a:pPr lvl="1"/>
            <a:r>
              <a:rPr lang="pt-BR" dirty="0"/>
              <a:t>body usando grid-</a:t>
            </a:r>
            <a:r>
              <a:rPr lang="pt-BR" dirty="0" err="1"/>
              <a:t>template</a:t>
            </a:r>
            <a:r>
              <a:rPr lang="pt-BR" dirty="0"/>
              <a:t>-</a:t>
            </a:r>
            <a:r>
              <a:rPr lang="pt-BR" dirty="0" err="1"/>
              <a:t>rows</a:t>
            </a:r>
            <a:r>
              <a:rPr lang="pt-BR" dirty="0"/>
              <a:t>: auto 1fr auto, garantindo </a:t>
            </a:r>
            <a:r>
              <a:rPr lang="pt-BR" b="1" dirty="0"/>
              <a:t>header no topo, conteúdo no meio e </a:t>
            </a:r>
            <a:r>
              <a:rPr lang="pt-BR" b="1" dirty="0" err="1"/>
              <a:t>footer</a:t>
            </a:r>
            <a:r>
              <a:rPr lang="pt-BR" b="1" dirty="0"/>
              <a:t> fixo ao final</a:t>
            </a:r>
            <a:r>
              <a:rPr lang="pt-BR" dirty="0"/>
              <a:t>. </a:t>
            </a:r>
          </a:p>
          <a:p>
            <a:r>
              <a:rPr lang="pt-BR" dirty="0" err="1"/>
              <a:t>Navbar</a:t>
            </a:r>
            <a:r>
              <a:rPr lang="pt-BR" dirty="0"/>
              <a:t>: </a:t>
            </a:r>
          </a:p>
          <a:p>
            <a:pPr lvl="1"/>
            <a:r>
              <a:rPr lang="pt-BR" dirty="0"/>
              <a:t>position: </a:t>
            </a:r>
            <a:r>
              <a:rPr lang="pt-BR" dirty="0" err="1"/>
              <a:t>sticky</a:t>
            </a:r>
            <a:r>
              <a:rPr lang="pt-BR" dirty="0"/>
              <a:t>; top: 0 com </a:t>
            </a:r>
            <a:r>
              <a:rPr lang="pt-BR" dirty="0" err="1"/>
              <a:t>blur</a:t>
            </a:r>
            <a:r>
              <a:rPr lang="pt-BR" dirty="0"/>
              <a:t> no fundo (efeito de vidro) e gradiente escuro.</a:t>
            </a:r>
          </a:p>
          <a:p>
            <a:pPr lvl="1"/>
            <a:r>
              <a:rPr lang="pt-BR" dirty="0"/>
              <a:t>Botões .</a:t>
            </a:r>
            <a:r>
              <a:rPr lang="pt-BR" dirty="0" err="1"/>
              <a:t>btn</a:t>
            </a:r>
            <a:r>
              <a:rPr lang="pt-BR" dirty="0"/>
              <a:t> e .</a:t>
            </a:r>
            <a:r>
              <a:rPr lang="pt-BR" dirty="0" err="1"/>
              <a:t>btn.primary</a:t>
            </a:r>
            <a:r>
              <a:rPr lang="pt-BR" dirty="0"/>
              <a:t> com bordas arredondadas e gradiente laranja/vermelho.</a:t>
            </a:r>
          </a:p>
          <a:p>
            <a:r>
              <a:rPr lang="pt-BR" dirty="0"/>
              <a:t>Menu de perfil:</a:t>
            </a:r>
          </a:p>
          <a:p>
            <a:pPr lvl="1"/>
            <a:r>
              <a:rPr lang="pt-BR" dirty="0"/>
              <a:t>Botão circular .profile-</a:t>
            </a:r>
            <a:r>
              <a:rPr lang="pt-BR" dirty="0" err="1"/>
              <a:t>btn</a:t>
            </a:r>
            <a:r>
              <a:rPr lang="pt-BR" dirty="0"/>
              <a:t> com avatar (.profile-avatar).</a:t>
            </a:r>
          </a:p>
          <a:p>
            <a:pPr lvl="1"/>
            <a:r>
              <a:rPr lang="pt-BR" dirty="0" err="1"/>
              <a:t>Dropdown</a:t>
            </a:r>
            <a:r>
              <a:rPr lang="pt-BR" dirty="0"/>
              <a:t> .profile-menu posicionado à direita, com animação simples de exibir/ocultar via classe .</a:t>
            </a:r>
            <a:r>
              <a:rPr lang="pt-BR" dirty="0" err="1"/>
              <a:t>is</a:t>
            </a:r>
            <a:r>
              <a:rPr lang="pt-BR" dirty="0"/>
              <a:t>-open.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98997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06F93-6D51-A71B-CE5A-6E968840F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4C8E43-10BB-72AF-6B2D-35982A1F9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4"/>
            <a:ext cx="7960421" cy="1450217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Estilos específicos de Perfil, Treinos e Metas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5C5093-74C6-ACC0-FDFF-956565676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2" y="1865295"/>
            <a:ext cx="10687114" cy="5193873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b="1" dirty="0"/>
              <a:t>Perfil (profile.css)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#perfil.container com largura máxima limitada para melhorar legibilidade.</a:t>
            </a:r>
          </a:p>
          <a:p>
            <a:pPr lvl="1"/>
            <a:r>
              <a:rPr lang="pt-BR" dirty="0"/>
              <a:t>.</a:t>
            </a:r>
            <a:r>
              <a:rPr lang="pt-BR" dirty="0" err="1"/>
              <a:t>form</a:t>
            </a:r>
            <a:r>
              <a:rPr lang="pt-BR" dirty="0"/>
              <a:t>-card com borda, sombra e fundo diferenciado.</a:t>
            </a:r>
          </a:p>
          <a:p>
            <a:pPr lvl="1"/>
            <a:r>
              <a:rPr lang="pt-BR" dirty="0"/>
              <a:t>Inputs com </a:t>
            </a:r>
            <a:r>
              <a:rPr lang="pt-BR" dirty="0" err="1"/>
              <a:t>border-radius</a:t>
            </a:r>
            <a:r>
              <a:rPr lang="pt-BR" dirty="0"/>
              <a:t>: 12px e destaque ao focar, usando color-mix para cores dinâmicas.</a:t>
            </a:r>
          </a:p>
          <a:p>
            <a:pPr lvl="1"/>
            <a:r>
              <a:rPr lang="pt-BR" dirty="0"/>
              <a:t>Layout responsivo com .</a:t>
            </a:r>
            <a:r>
              <a:rPr lang="pt-BR" dirty="0" err="1"/>
              <a:t>options</a:t>
            </a:r>
            <a:r>
              <a:rPr lang="pt-BR" dirty="0"/>
              <a:t> em grid, virando 1 coluna em telas pequenas.</a:t>
            </a:r>
          </a:p>
          <a:p>
            <a:r>
              <a:rPr lang="pt-BR" b="1" dirty="0"/>
              <a:t>Treinos (workouts.css)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Cartões .</a:t>
            </a:r>
            <a:r>
              <a:rPr lang="pt-BR" dirty="0" err="1"/>
              <a:t>workout</a:t>
            </a:r>
            <a:r>
              <a:rPr lang="pt-BR" dirty="0"/>
              <a:t>-card com </a:t>
            </a:r>
            <a:r>
              <a:rPr lang="pt-BR" dirty="0" err="1"/>
              <a:t>tags</a:t>
            </a:r>
            <a:r>
              <a:rPr lang="pt-BR" dirty="0"/>
              <a:t> (.</a:t>
            </a:r>
            <a:r>
              <a:rPr lang="pt-BR" dirty="0" err="1"/>
              <a:t>workout-tag</a:t>
            </a:r>
            <a:r>
              <a:rPr lang="pt-BR" dirty="0"/>
              <a:t>--</a:t>
            </a:r>
            <a:r>
              <a:rPr lang="pt-BR" dirty="0" err="1"/>
              <a:t>cardio</a:t>
            </a:r>
            <a:r>
              <a:rPr lang="pt-BR" dirty="0"/>
              <a:t>, .</a:t>
            </a:r>
            <a:r>
              <a:rPr lang="pt-BR" dirty="0" err="1"/>
              <a:t>workout-tag</a:t>
            </a:r>
            <a:r>
              <a:rPr lang="pt-BR" dirty="0"/>
              <a:t>--</a:t>
            </a:r>
            <a:r>
              <a:rPr lang="pt-BR" dirty="0" err="1"/>
              <a:t>strength</a:t>
            </a:r>
            <a:r>
              <a:rPr lang="pt-BR" dirty="0"/>
              <a:t>) diferenciando tipo de exercício.</a:t>
            </a:r>
          </a:p>
          <a:p>
            <a:pPr lvl="1"/>
            <a:r>
              <a:rPr lang="pt-BR" dirty="0"/>
              <a:t>Modais com fundo radial escuro, cartão centralizado e campos bem espaçados.                          </a:t>
            </a:r>
          </a:p>
          <a:p>
            <a:r>
              <a:rPr lang="pt-BR" b="1" dirty="0"/>
              <a:t>Metas (tasks.css)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Botão </a:t>
            </a:r>
            <a:r>
              <a:rPr lang="pt-BR" dirty="0" err="1"/>
              <a:t>btn</a:t>
            </a:r>
            <a:r>
              <a:rPr lang="pt-BR" dirty="0"/>
              <a:t>--</a:t>
            </a:r>
            <a:r>
              <a:rPr lang="pt-BR" dirty="0" err="1"/>
              <a:t>sn</a:t>
            </a:r>
            <a:r>
              <a:rPr lang="pt-BR" dirty="0"/>
              <a:t> para “Adicionar metas” com gradiente próprio.</a:t>
            </a:r>
          </a:p>
          <a:p>
            <a:pPr lvl="1"/>
            <a:r>
              <a:rPr lang="pt-BR" dirty="0"/>
              <a:t>Tabela com header fixo e responsividade via data-</a:t>
            </a:r>
            <a:r>
              <a:rPr lang="pt-BR" dirty="0" err="1"/>
              <a:t>label</a:t>
            </a:r>
            <a:r>
              <a:rPr lang="pt-BR" dirty="0"/>
              <a:t>.</a:t>
            </a:r>
          </a:p>
          <a:p>
            <a:pPr lvl="1"/>
            <a:r>
              <a:rPr lang="pt-BR" dirty="0" err="1"/>
              <a:t>Dialogs</a:t>
            </a:r>
            <a:r>
              <a:rPr lang="pt-BR" dirty="0"/>
              <a:t> #taskDialog e #viewDialog com visual consistente. </a:t>
            </a:r>
          </a:p>
          <a:p>
            <a:pPr lvl="8"/>
            <a:endParaRPr lang="pt-BR" dirty="0"/>
          </a:p>
          <a:p>
            <a:pPr marL="3657600" lvl="8" indent="0">
              <a:buNone/>
            </a:pPr>
            <a:endParaRPr lang="pt-BR" dirty="0"/>
          </a:p>
          <a:p>
            <a:pPr lvl="8"/>
            <a:endParaRPr lang="pt-BR" dirty="0"/>
          </a:p>
          <a:p>
            <a:pPr lvl="8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3577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D6F51-C1B4-107A-0E52-F7B9F71FB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1248F2-9E28-B68C-69A1-64740499B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1684059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Módulo “Metas diárias”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3B12F1-A439-AAED-319A-73F2D17B2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Objetivo: permitir registrar um resumo diário de hábitos:</a:t>
            </a:r>
          </a:p>
          <a:p>
            <a:pPr marL="971550" lvl="1" indent="-285750"/>
            <a:r>
              <a:rPr lang="pt-BR" dirty="0"/>
              <a:t>Treino do dia.</a:t>
            </a:r>
          </a:p>
          <a:p>
            <a:pPr marL="971550" lvl="1" indent="-285750"/>
            <a:r>
              <a:rPr lang="pt-BR" dirty="0"/>
              <a:t>Quantidade de água.</a:t>
            </a:r>
          </a:p>
          <a:p>
            <a:pPr marL="971550" lvl="1" indent="-285750"/>
            <a:r>
              <a:rPr lang="pt-BR" dirty="0"/>
              <a:t>Quantidade de sono.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Estrutura da página:</a:t>
            </a:r>
          </a:p>
          <a:p>
            <a:pPr marL="971550" lvl="1" indent="-285750"/>
            <a:r>
              <a:rPr lang="pt-BR" dirty="0"/>
              <a:t>Botão </a:t>
            </a:r>
            <a:r>
              <a:rPr lang="pt-BR" b="1" dirty="0"/>
              <a:t>“Adicionar metas”</a:t>
            </a:r>
            <a:r>
              <a:rPr lang="pt-BR" dirty="0"/>
              <a:t> (#addTaskBtn) abre um &lt;</a:t>
            </a:r>
            <a:r>
              <a:rPr lang="pt-BR" dirty="0" err="1"/>
              <a:t>dialog</a:t>
            </a:r>
            <a:r>
              <a:rPr lang="pt-BR" dirty="0"/>
              <a:t>&gt; com formulário. </a:t>
            </a:r>
          </a:p>
          <a:p>
            <a:pPr marL="971550" lvl="1" indent="-285750"/>
            <a:r>
              <a:rPr lang="pt-BR" dirty="0"/>
              <a:t>Tabela #tasksTable com colunas: Dia, Metas concluídas,  Alterar,  Ver metas.</a:t>
            </a:r>
          </a:p>
          <a:p>
            <a:pPr marL="971550" lvl="1" indent="-285750"/>
            <a:r>
              <a:rPr lang="pt-BR" dirty="0" err="1"/>
              <a:t>Dialog</a:t>
            </a:r>
            <a:r>
              <a:rPr lang="pt-BR" dirty="0"/>
              <a:t> #taskDialog para criar/alterar metas do dia.</a:t>
            </a:r>
          </a:p>
          <a:p>
            <a:pPr marL="971550" lvl="1" indent="-285750"/>
            <a:r>
              <a:rPr lang="pt-BR" dirty="0" err="1"/>
              <a:t>Dialog</a:t>
            </a:r>
            <a:r>
              <a:rPr lang="pt-BR" dirty="0"/>
              <a:t> #viewDialog para visualizar detalhes de uma meta específica.</a:t>
            </a:r>
          </a:p>
          <a:p>
            <a:pPr lvl="1" indent="0">
              <a:buNone/>
            </a:pPr>
            <a:endParaRPr lang="pt-BR" dirty="0"/>
          </a:p>
          <a:p>
            <a:pPr lvl="1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5668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1B682-C0E7-1A3D-9B0A-5AD49443F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301E6-7E40-1F39-723B-4E2845FAE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4"/>
            <a:ext cx="7960421" cy="1450217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Módulo “Meus treinos”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318FB0-8C68-E730-9F08-123A37FBB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2" y="1545255"/>
            <a:ext cx="9041194" cy="4508073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Objetivo: permitir ao usuário </a:t>
            </a:r>
            <a:r>
              <a:rPr lang="pt-BR" b="1" dirty="0"/>
              <a:t>cadastrar e gerenciar treinos</a:t>
            </a:r>
            <a:r>
              <a:rPr lang="pt-BR" dirty="0"/>
              <a:t>.</a:t>
            </a:r>
          </a:p>
          <a:p>
            <a:r>
              <a:rPr lang="pt-BR" dirty="0"/>
              <a:t>Estrutura:</a:t>
            </a:r>
          </a:p>
          <a:p>
            <a:pPr lvl="1"/>
            <a:r>
              <a:rPr lang="pt-BR" dirty="0"/>
              <a:t>Cabeçalho com título “Meus treinos” e texto explicando que é possível adicionar exercícios, séries, repetições e duração.</a:t>
            </a:r>
          </a:p>
          <a:p>
            <a:pPr lvl="1"/>
            <a:r>
              <a:rPr lang="pt-BR" dirty="0"/>
              <a:t>Ações principais:</a:t>
            </a:r>
          </a:p>
          <a:p>
            <a:pPr lvl="2"/>
            <a:r>
              <a:rPr lang="pt-BR" dirty="0"/>
              <a:t>Botão </a:t>
            </a:r>
            <a:r>
              <a:rPr lang="pt-BR" b="1" dirty="0"/>
              <a:t>“Criar treino”</a:t>
            </a:r>
            <a:r>
              <a:rPr lang="pt-BR" dirty="0"/>
              <a:t> (#add-workout-btn).</a:t>
            </a:r>
          </a:p>
          <a:p>
            <a:pPr lvl="2"/>
            <a:r>
              <a:rPr lang="pt-BR" dirty="0"/>
              <a:t>Botão </a:t>
            </a:r>
            <a:r>
              <a:rPr lang="pt-BR" b="1" dirty="0"/>
              <a:t>“Adicionar exercício ao treino”</a:t>
            </a:r>
            <a:r>
              <a:rPr lang="pt-BR" dirty="0"/>
              <a:t> (#open-btn).</a:t>
            </a:r>
          </a:p>
          <a:p>
            <a:pPr lvl="1"/>
            <a:r>
              <a:rPr lang="pt-BR" dirty="0"/>
              <a:t>Área de conteúdo:</a:t>
            </a:r>
          </a:p>
          <a:p>
            <a:pPr lvl="2"/>
            <a:r>
              <a:rPr lang="pt-BR" dirty="0"/>
              <a:t>Mensagem de vazio: “Você ainda não cadastrou nenhum treino. Clique em Criar treino para começar.”</a:t>
            </a:r>
          </a:p>
          <a:p>
            <a:pPr lvl="2"/>
            <a:r>
              <a:rPr lang="pt-BR" dirty="0"/>
              <a:t>Grid #workouts-grid para cards de treinos (no estado atual, populado apenas via JS futuramente).</a:t>
            </a:r>
          </a:p>
        </p:txBody>
      </p:sp>
    </p:spTree>
    <p:extLst>
      <p:ext uri="{BB962C8B-B14F-4D97-AF65-F5344CB8AC3E}">
        <p14:creationId xmlns:p14="http://schemas.microsoft.com/office/powerpoint/2010/main" val="1727771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6C721-ABCB-C0C5-644B-31562DA24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44B93C-836C-A7FE-C63C-8944ADCB0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4"/>
            <a:ext cx="7960421" cy="1450217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Estrutura de banco de dados e integridade referencial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EF0E84-4BFA-A062-EEAD-C35D0BAE9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2" y="1664127"/>
            <a:ext cx="10687114" cy="5193873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Tabela cadastro:</a:t>
            </a:r>
          </a:p>
          <a:p>
            <a:pPr lvl="1"/>
            <a:r>
              <a:rPr lang="pt-BR" dirty="0"/>
              <a:t>id (PK, </a:t>
            </a:r>
            <a:r>
              <a:rPr lang="pt-BR" dirty="0" err="1"/>
              <a:t>auto_increment</a:t>
            </a:r>
            <a:r>
              <a:rPr lang="pt-BR" dirty="0"/>
              <a:t>)</a:t>
            </a:r>
          </a:p>
          <a:p>
            <a:pPr lvl="1"/>
            <a:r>
              <a:rPr lang="pt-BR" dirty="0" err="1"/>
              <a:t>nome_cadastro</a:t>
            </a:r>
            <a:endParaRPr lang="pt-BR" dirty="0"/>
          </a:p>
          <a:p>
            <a:pPr lvl="1"/>
            <a:r>
              <a:rPr lang="pt-BR" dirty="0" err="1"/>
              <a:t>email_cadastro</a:t>
            </a:r>
            <a:endParaRPr lang="pt-BR" dirty="0"/>
          </a:p>
          <a:p>
            <a:pPr lvl="1"/>
            <a:r>
              <a:rPr lang="pt-BR" dirty="0" err="1"/>
              <a:t>nascimento_cadastro</a:t>
            </a:r>
            <a:endParaRPr lang="pt-BR" dirty="0"/>
          </a:p>
          <a:p>
            <a:pPr lvl="1"/>
            <a:r>
              <a:rPr lang="pt-BR" dirty="0" err="1"/>
              <a:t>senha_cadastro</a:t>
            </a:r>
            <a:endParaRPr lang="pt-BR" dirty="0"/>
          </a:p>
          <a:p>
            <a:r>
              <a:rPr lang="pt-BR" dirty="0"/>
              <a:t>Tabela </a:t>
            </a:r>
            <a:r>
              <a:rPr lang="pt-BR" dirty="0" err="1"/>
              <a:t>metas_diarias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PK id</a:t>
            </a:r>
          </a:p>
          <a:p>
            <a:pPr lvl="1"/>
            <a:r>
              <a:rPr lang="pt-BR" dirty="0"/>
              <a:t>FK </a:t>
            </a:r>
            <a:r>
              <a:rPr lang="pt-BR" dirty="0" err="1"/>
              <a:t>usuario_id</a:t>
            </a:r>
            <a:r>
              <a:rPr lang="pt-BR" dirty="0"/>
              <a:t> → cadastro(id) com ON DELETE CASCADE ON UPDATE CASCADE.</a:t>
            </a:r>
          </a:p>
          <a:p>
            <a:pPr lvl="1"/>
            <a:r>
              <a:rPr lang="pt-BR" dirty="0"/>
              <a:t>Campos de negócio: dia, treino, </a:t>
            </a:r>
            <a:r>
              <a:rPr lang="pt-BR" dirty="0" err="1"/>
              <a:t>agua_litros</a:t>
            </a:r>
            <a:r>
              <a:rPr lang="pt-BR" dirty="0"/>
              <a:t>, sono, </a:t>
            </a:r>
            <a:r>
              <a:rPr lang="pt-BR" dirty="0" err="1"/>
              <a:t>concluido</a:t>
            </a:r>
            <a:r>
              <a:rPr lang="pt-BR" dirty="0"/>
              <a:t>, </a:t>
            </a:r>
            <a:r>
              <a:rPr lang="pt-BR" dirty="0" err="1"/>
              <a:t>created_at</a:t>
            </a:r>
            <a:r>
              <a:rPr lang="pt-BR" dirty="0"/>
              <a:t>, </a:t>
            </a:r>
            <a:r>
              <a:rPr lang="pt-BR" dirty="0" err="1"/>
              <a:t>updated_at</a:t>
            </a:r>
            <a:r>
              <a:rPr lang="pt-BR" dirty="0"/>
              <a:t>.</a:t>
            </a:r>
          </a:p>
          <a:p>
            <a:r>
              <a:rPr lang="pt-BR" dirty="0"/>
              <a:t>Regras importantes:</a:t>
            </a:r>
          </a:p>
          <a:p>
            <a:pPr lvl="1"/>
            <a:r>
              <a:rPr lang="pt-BR" dirty="0"/>
              <a:t>UNIQUE KEY </a:t>
            </a:r>
            <a:r>
              <a:rPr lang="pt-BR" dirty="0" err="1"/>
              <a:t>uk_usuario_dia</a:t>
            </a:r>
            <a:r>
              <a:rPr lang="pt-BR" dirty="0"/>
              <a:t> (</a:t>
            </a:r>
            <a:r>
              <a:rPr lang="pt-BR" dirty="0" err="1"/>
              <a:t>usuario_id</a:t>
            </a:r>
            <a:r>
              <a:rPr lang="pt-BR" dirty="0"/>
              <a:t>, dia) impede duplicidade de metas diárias, combinando com a lógica do front que só permite uma meta por dia.</a:t>
            </a:r>
          </a:p>
          <a:p>
            <a:pPr lvl="1"/>
            <a:r>
              <a:rPr lang="pt-BR" dirty="0"/>
              <a:t>Uso de </a:t>
            </a:r>
            <a:r>
              <a:rPr lang="pt-BR" b="1" dirty="0" err="1"/>
              <a:t>InnoDB</a:t>
            </a:r>
            <a:r>
              <a:rPr lang="pt-BR" dirty="0"/>
              <a:t> e utf8mb4 garante suporte a transações e caracteres especiais, importante para nomes e textos em português.</a:t>
            </a:r>
          </a:p>
        </p:txBody>
      </p:sp>
    </p:spTree>
    <p:extLst>
      <p:ext uri="{BB962C8B-B14F-4D97-AF65-F5344CB8AC3E}">
        <p14:creationId xmlns:p14="http://schemas.microsoft.com/office/powerpoint/2010/main" val="1973309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36" y="549274"/>
            <a:ext cx="5179330" cy="2841829"/>
          </a:xfrm>
          <a:noFill/>
        </p:spPr>
        <p:txBody>
          <a:bodyPr rtlCol="0" anchor="b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Obrigado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37" y="3646704"/>
            <a:ext cx="5179330" cy="2706160"/>
          </a:xfrm>
          <a:noFill/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25" name="Espaço Reservado para Imagem 24" descr="Imagem ampliada de uma rede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>
          <a:xfrm>
            <a:off x="5926138" y="549275"/>
            <a:ext cx="5654675" cy="5788025"/>
          </a:xfrm>
        </p:spPr>
      </p:pic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243_TF33713516_Win32" id="{381BE384-4E88-40D9-BE21-FE65AFA21B4D}" vid="{52A1BC7B-5E05-4786-AE3A-7C32E2BD0D9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342EE1-43E5-4AFB-895D-B61B9656DC14}">
  <ds:schemaRefs>
    <ds:schemaRef ds:uri="71af3243-3dd4-4a8d-8c0d-dd76da1f02a5"/>
    <ds:schemaRef ds:uri="http://purl.org/dc/dcmitype/"/>
    <ds:schemaRef ds:uri="http://schemas.microsoft.com/office/2006/documentManagement/types"/>
    <ds:schemaRef ds:uri="http://www.w3.org/XML/1998/namespace"/>
    <ds:schemaRef ds:uri="http://schemas.microsoft.com/sharepoint/v3"/>
    <ds:schemaRef ds:uri="http://schemas.microsoft.com/office/infopath/2007/PartnerControls"/>
    <ds:schemaRef ds:uri="http://purl.org/dc/terms/"/>
    <ds:schemaRef ds:uri="http://purl.org/dc/elements/1.1/"/>
    <ds:schemaRef ds:uri="230e9df3-be65-4c73-a93b-d1236ebd677e"/>
    <ds:schemaRef ds:uri="http://schemas.openxmlformats.org/package/2006/metadata/core-properties"/>
    <ds:schemaRef ds:uri="16c05727-aa75-4e4a-9b5f-8a80a1165891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{FA0AF7DC-AA45-4FEB-9BDC-30E0F6277862}TF7eddf224-c89c-478f-8f2f-bfb0868921693e3b6079_win32-4c73aa943b8d</Template>
  <TotalTime>178</TotalTime>
  <Words>1827</Words>
  <Application>Microsoft Office PowerPoint</Application>
  <PresentationFormat>Widescreen</PresentationFormat>
  <Paragraphs>190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Arial</vt:lpstr>
      <vt:lpstr>Calibri</vt:lpstr>
      <vt:lpstr>Gill Sans MT</vt:lpstr>
      <vt:lpstr>Walbaum Display</vt:lpstr>
      <vt:lpstr>3DFloatVTI</vt:lpstr>
      <vt:lpstr>BodyQuest</vt:lpstr>
      <vt:lpstr>Visão geral do BodyQuest</vt:lpstr>
      <vt:lpstr>Objetivos do sistema</vt:lpstr>
      <vt:lpstr>Arquitetura Geral</vt:lpstr>
      <vt:lpstr>Fluxo principal do usuário</vt:lpstr>
      <vt:lpstr>Navegação, header e footer reutilizáveis</vt:lpstr>
      <vt:lpstr>Página de Perfil do usuário</vt:lpstr>
      <vt:lpstr>Validação de Perfil</vt:lpstr>
      <vt:lpstr>Módulo “Meus treinos” </vt:lpstr>
      <vt:lpstr>Módulo “Metas diárias”</vt:lpstr>
      <vt:lpstr>Integração Metas ⇔ Back-end e Banco</vt:lpstr>
      <vt:lpstr>Integração Metas ⇔ Back-end e Banco</vt:lpstr>
      <vt:lpstr>Autenticação e cadastro de usuários</vt:lpstr>
      <vt:lpstr>Design system, layout global e menu de perfil</vt:lpstr>
      <vt:lpstr>Estilos específicos de Perfil, Treinos e Metas</vt:lpstr>
      <vt:lpstr>Módulo “Metas diárias”</vt:lpstr>
      <vt:lpstr>Módulo “Meus treinos” </vt:lpstr>
      <vt:lpstr>Estrutura de banco de dados e integridade referencial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ADRIEL JHAMES DOS PASSOS SILVA</dc:creator>
  <cp:lastModifiedBy>ADRIEL JHAMES DOS PASSOS SILVA</cp:lastModifiedBy>
  <cp:revision>1</cp:revision>
  <dcterms:created xsi:type="dcterms:W3CDTF">2025-11-27T19:21:29Z</dcterms:created>
  <dcterms:modified xsi:type="dcterms:W3CDTF">2025-11-27T22:19:56Z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